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BEB8C6"/>
                </a:solidFill>
                <a:latin typeface="Consolas"/>
                <a:ea typeface="Consolas"/>
                <a:cs typeface="Consolas"/>
              </a:rPr>
              <a:t>SIRIAI · OPERATIONS PLATFORM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인플루언서 마케팅,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이제 </a:t>
            </a:r>
            <a:r>
              <a:rPr sz="5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시스템</a:t>
            </a:r>
            <a:r>
              <a:rPr sz="5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으로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운영합니다.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343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1년간 매니저 한 명이 손으로 돌리던 모집·연락·배송·정산·검수를,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어드민 웹 · 인플루언서 앱 · AI 자동화</a:t>
            </a:r>
            <a:r>
              <a:rPr sz="16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로 다시 설계했습니다.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5440680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440680"/>
            <a:ext cx="11612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SIRIAI 어드민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5440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5440680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SIRIAI 인플루언서 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5344" y="5440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544068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AI 자동화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12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발표자 ____________   ·   SIRIAI   ·   2026.06.07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01 / 34  ·  표지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오늘 말씀드릴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배경 — 우리가 풀어야 했던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78308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왜 지금 이걸 만들었나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441448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32888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현황 진단 — 5단계에서 무엇이 무너지고 있었나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532888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모집·연락·배송·정산·검수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191256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82696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솔루션 — 두 개의 앱 + AI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282696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전체 구조와 문제→해결 매핑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41063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32504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단계별 해결 &amp; 실제 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032504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데모 흐름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90872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82312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운영 실행 — 어떻게 운영하고 키울 것인가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782312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연락 · 인바운드 모집 · 인스타 채널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440680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32120"/>
            <a:ext cx="6766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1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효율 · 기술 · 향후 로드맵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532120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Before/After와 다음 단계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6190488"/>
            <a:ext cx="10424160" cy="12700"/>
          </a:xfrm>
          <a:prstGeom prst="rect">
            <a:avLst/>
          </a:prstGeom>
          <a:solidFill>
            <a:srgbClr val="D7D1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02 / 34  ·  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01 ·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규모는 커졌는데, 일하는 방식은 1년 전 그대로였습니다.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410712" cy="22860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76856"/>
            <a:ext cx="3081528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🤝  우리가 하는 일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브랜드와 인플루언서를 잇는 인플루언서 마케팅 대행. 무신사 등 고정 클라이언트부터 신규 대행 캠페인까지.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148840"/>
            <a:ext cx="3410712" cy="22860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2276856"/>
            <a:ext cx="3081528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📈  무엇이 달라졌나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고정 클라이언트와 대행 캠페인이 몇 배로 급증. 한 번에 다뤄야 할 인플루언서가 수백 명 규모로.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148840"/>
            <a:ext cx="3410712" cy="22860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76856"/>
            <a:ext cx="3081528" cy="20299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🧍  그런데 운영은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여전히 매니저 1인이 전 과정을 수기로 처리. 검색·문자·시트·송금·다운로드를 사람이 일일이.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10543032" cy="1051560"/>
          </a:xfrm>
          <a:prstGeom prst="roundRect">
            <a:avLst>
              <a:gd name="adj" fmla="val 9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결과   </a:t>
            </a: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클라이언트 만족도와 회사의 성장성이 동시에 임계점에 도달 — “더 받고 싶어도 더 못 받는” 구조.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03 / 34  ·  배경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· 현황 진단 · 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5단계 모든 단계에 수작업 병목이 있었습니다.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9623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13432"/>
            <a:ext cx="19623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01 모집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6974" y="2148840"/>
            <a:ext cx="2194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68142" y="2148840"/>
            <a:ext cx="19623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6B4D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68142" y="2313432"/>
            <a:ext cx="19623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02 연락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2156" y="2148840"/>
            <a:ext cx="2194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3324" y="2148840"/>
            <a:ext cx="19623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3324" y="2313432"/>
            <a:ext cx="19623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📦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03 선정·배송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7339" y="2148840"/>
            <a:ext cx="2194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8507" y="2148840"/>
            <a:ext cx="19623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8507" y="2313432"/>
            <a:ext cx="19623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💸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04 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2521" y="2148840"/>
            <a:ext cx="219456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3689" y="2148840"/>
            <a:ext cx="19623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143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3689" y="2313432"/>
            <a:ext cx="196230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05 검수·아카이빙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31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근본 원인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43400"/>
            <a:ext cx="3410712" cy="14630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471416"/>
            <a:ext cx="3081528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① 1인 수동 처리 구조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모든 단계를 사람이 직접. 인원이 늘수록 공수 선형 폭증.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343400"/>
            <a:ext cx="3410712" cy="14630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4471416"/>
            <a:ext cx="3081528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② 데이터 자산화 부재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누가 색조에 강한지, 주소·계좌가 최신인지 — 기억·흩어진 파일 의존.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4343400"/>
            <a:ext cx="3410712" cy="14630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471416"/>
            <a:ext cx="3081528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③ 공식 시스템·채널 부재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개인 폰·메일·슬랙·시트로 분산. 표준 프로세스 없음.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04 / 34  ·  진단 개요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— 1 · 모집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Pool 고갈과 감도 하락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24128"/>
            <a:ext cx="146304" cy="146304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60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모집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66928" cy="54864"/>
          </a:xfrm>
          <a:prstGeom prst="round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아웃바운드(DM)에만 의존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“보내던 사람에게만 또 보내는” 모수 고갈.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장기 클라이언트 만족도 저하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무신사 등에서 ‘감도 높은 인원 재구성’ 불만 누적.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크리에이터 성향 자산화 부재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분류가 없어 매번 기억에 의존한 수기 매칭.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1:1 개별 제안의 리소스 낭비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캠페인마다 일일이 선호·고료를 개별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신규 캠페인마다 </a:t>
            </a:r>
            <a:r>
              <a:rPr sz="14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태그 검색·수기 1:1 컨택을 처음부터 반복하는 비효율 고착화.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05 / 34  ·  문제·모집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— 2 · 연락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수작업 커뮤니케이션 과부하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24128"/>
            <a:ext cx="146304" cy="146304"/>
          </a:xfrm>
          <a:prstGeom prst="ellipse">
            <a:avLst/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60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연락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66928" cy="54864"/>
          </a:xfrm>
          <a:prstGeom prst="roundRect">
            <a:avLst/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공식 채널 부재 · 개인 폰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담당자 개인 휴대폰에 번호를 일일이 저장해 소통.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다단계 1:1 연락으로 마비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피처체크→선정→가이드→리마인더 3회 전부 수동 문자.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라포 ↔ 효율의 충돌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단체 시스템이 없어 효율 급락(오픈채팅은 감도와 안 맞음).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정보 공개의 딜레마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공공 채널에 올리면 고료가 노출돼 A급 참여 제한.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클라이언트 수가 몇 배로 늘어난 지금, </a:t>
            </a:r>
            <a:r>
              <a:rPr sz="14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담당자 혼자 감당 불가능한 임계점 도달.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06 / 34  ·  문제·연락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— 3 · 배송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데이터 최신화 부재로 인한 배송 사고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24128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60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배송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66928" cy="54864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과거 데이터 재활용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이전 참여자 주소를 확인 없이 그대로 브랜드사에 전달.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오배송 주기적 발생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이사 등으로 잘못 배송 → 브랜드 신뢰 손상.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전수 수기 재확인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막으려 한 명 한 명 주소를 다시 묻는 전수조사 추가.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악순환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사고를 막으려다 공수가 또 늘어남.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결국 </a:t>
            </a:r>
            <a:r>
              <a:rPr sz="14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틀리거나 / 매번 다시 묻거나 — 둘 중 하나였습니다.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07 / 34  ·  문제·배송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— 4 · 정산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중복 공수 &amp; 패널티 통제 불능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24128"/>
            <a:ext cx="146304" cy="146304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60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66928" cy="54864"/>
          </a:xfrm>
          <a:prstGeom prst="round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중복 서류 제출 피로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여러 번 참여해도 매번 신분증·통장사본 재수취.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수기 송금의 비효율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메일 취합→슬랙→대표 수기 송금·체크. 누락·지연 위험.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낮은 고료로 잠수(노쇼)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“5만 원 안 받고 말지”로 기한 미준수·연락 두절.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패널티 기준 부재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늦게 올려도 대부분 정산 → 책임감 결여.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정산이 </a:t>
            </a:r>
            <a:r>
              <a:rPr sz="14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‘돈 주는 일’이 아니라 ‘사람 쫓아다니는 일’이 되어 있었습니다.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08 / 34  ·  문제·정산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02 — 5 · 검수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단순 반복 수작업으로 인한 과부하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24128"/>
            <a:ext cx="146304" cy="146304"/>
          </a:xfrm>
          <a:prstGeom prst="ellipse">
            <a:avLst/>
          </a:prstGeom>
          <a:solidFill>
            <a:srgbClr val="C14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601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66928" cy="54864"/>
          </a:xfrm>
          <a:prstGeom prst="roundRect">
            <a:avLst/>
          </a:prstGeom>
          <a:solidFill>
            <a:srgbClr val="C14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업로드 링크 수기 입력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수십~수백 명의 링크를 일일이 확인·시트에 복붙.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2212848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전수 다운로드·아카이빙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릴스를 일일이 다운받아 드라이브에 수동 분류·저장.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시간을 못 쓴 곳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정작 ‘콘텐츠 품질을 보는 일’엔 시간을 못 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46703"/>
            <a:ext cx="5166360" cy="1078992"/>
          </a:xfrm>
          <a:prstGeom prst="roundRect">
            <a:avLst>
              <a:gd name="adj" fmla="val 10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456432"/>
            <a:ext cx="487375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✕  </a:t>
            </a: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결과 —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가장 단순한 일에 가장 많은 손이 들어감.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가장 단순한 일에 </a:t>
            </a:r>
            <a:r>
              <a:rPr sz="14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가장 많은 손이 들어가는 구조였습니다.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09 / 34  ·  문제·검수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554480"/>
            <a:ext cx="978408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문제는 </a:t>
            </a:r>
            <a:r>
              <a:rPr sz="4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사람</a:t>
            </a:r>
            <a:r>
              <a:rPr sz="40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이 아니라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‘시스템의 부재’였습니다.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977639"/>
            <a:ext cx="8869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단순 반복은 시스템과 AI가 대신하고, 사람은 ‘감도’와 ‘관계’에 집중하도록 — 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 개의 웹앱과 AI 자동화 레이어를 직접 만들었습니다.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2245" y="5212080"/>
            <a:ext cx="2052827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2245" y="5212080"/>
            <a:ext cx="20528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🖥  SIRIAI 어드민 — 운영자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7681" y="5212080"/>
            <a:ext cx="2738627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7681" y="5212080"/>
            <a:ext cx="273862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📱  SIRIAI 인플루언서 앱 — 크리에이터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8917" y="5212080"/>
            <a:ext cx="1970531" cy="310896"/>
          </a:xfrm>
          <a:prstGeom prst="roundRect">
            <a:avLst>
              <a:gd name="adj" fmla="val 50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8917" y="5212080"/>
            <a:ext cx="197053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🤖  AI 자동화 — 반복 업무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10 / 34  · 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03 · 솔루션 · 전체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하나의 데이터베이스를 두 앱이 공유합니다.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인플루언서가 앱에서 입력하면 어드민에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즉시 반영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되고, 그 반대도 마찬가지. 다시 묻거나 옮겨 적을 필요가 없습니다.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004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14016"/>
            <a:ext cx="2871216" cy="1847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📱  인플루언서 앱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모바일 · 크리에이터용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캠페인 탐색·신청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콘텐츠 업로드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정산·메시지·알림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2606040"/>
            <a:ext cx="3200400" cy="1463040"/>
          </a:xfrm>
          <a:prstGeom prst="roundRect">
            <a:avLst>
              <a:gd name="adj" fmla="val 7000"/>
            </a:avLst>
          </a:prstGeom>
          <a:solidFill>
            <a:srgbClr val="21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734056"/>
            <a:ext cx="2871216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3EEE2"/>
                </a:solidFill>
                <a:latin typeface="Malgun Gothic"/>
                <a:ea typeface="Malgun Gothic"/>
                <a:cs typeface="Malgun Gothic"/>
              </a:rPr>
              <a:t>🗄️  공용 DB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Supabase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Postgres · Auth ·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286000"/>
            <a:ext cx="36576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86000"/>
            <a:ext cx="36576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5592" y="2286000"/>
            <a:ext cx="320040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414016"/>
            <a:ext cx="2871216" cy="18470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🖥️  SIRIAI 어드민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웹 · 운영자용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브랜드·캠페인·인플루언서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신청·검수·정산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· 콘텐츠 아카이브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17720"/>
            <a:ext cx="2542032" cy="10515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64024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🤖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AI 자동화 레이어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4617720"/>
            <a:ext cx="2542032" cy="10515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4764024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🗂️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Google Drive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617720"/>
            <a:ext cx="2542032" cy="10515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4764024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📮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우편번호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4617720"/>
            <a:ext cx="2542032" cy="10515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4764024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Vercel 자동배포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11 / 34  ·  시스템 구조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03 · 문제 → 해결 · 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5단계의 문제를, 5개의 해결로.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74519"/>
          <a:ext cx="1054303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114800"/>
                <a:gridCol w="50566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(문제)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(해결)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A6FD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모집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DM 의존·기억 매칭으로 Pool 고갈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공개 모집(인바운드) + 구조화 DB·필터 + AI 섭외 스크리닝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6B4D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연락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폰 다단계 수동 문자·고료 공개 딜레마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알림 + 앱 내 1:1 DM + AI 메시지 초안, 고료는 앱 안에서만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배송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주소 재사용→오배송 / 전수 수기 재확인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시마다 주소 직접 입력(우편번호) → 항상 최신 자동 수집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E651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정산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 서류·메일→슬랙→수기 송금 누락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계좌 1회 등록 재사용 + 선정 시 자동 생성 + 대시보드·일괄이체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C1436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검수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일일이 복붙·영상 수동 다운로드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인플루언서 직접 업로드 + 드라이브 자동 저장 + AI 검수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다음 장부터, 각 해결을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실제 화면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으로 보여드립니다.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12 / 34  ·  문제→해결 매핑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1 · 해결 · 모집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‘찾아 나서는 모집’에서 ‘찾아오게 하는 모집’으로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" cy="146304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41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모집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태그 검색→DM→기억으로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앱 공개 모집 + 필터로 매칭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인플루언서 앱 공개 모집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승인 회원이 모집중 캠페인을 직접 보고 ‘신청’. 아웃바운드→인바운드.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구조화된 인플루언서 DB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카테고리·성별·지역·팔로워·협업 단가까지 저장.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검색·필터 매칭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‘기억’ 대신 ‘조건’으로 추린다.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AI 섭외 스크리닝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핸들만 넣으면 팔로워·적합도(fit score) 정리.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73075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291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20"/>
            </a:pPr>
            <a:r>
              <a:rPr sz="12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화면 · 인플루언서 앱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모집중 캠페인 그리드(2열)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브랜드·고료·콘텐츠 타입 표시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공동작업/2차활용 배지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카테고리·타입 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13 / 34  ·  해결·모집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2 · 해결 · 연락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개인 폰을 닫고, 앱 안에서 ‘친절하게 &amp; 한꺼번에’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" cy="146304"/>
          </a:xfrm>
          <a:prstGeom prst="ellipse">
            <a:avLst/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41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연락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개인 폰으로 단계마다 수동 문자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앱 자동 알림 + 1:1 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자동 알림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선정🎉/일정📅/심사중⏳/미선정🙏 상태별 자동 표시.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앱 내 1:1 DM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캠페인별 대화 스레드. 개인 폰 없이 라포 유지+효율.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고료 공개 딜레마 해소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캠페인·고료는 로그인 회원에게만 노출.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AI 단계별 메시지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섭외·선정·리마인드·정산 메시지 자동 초안.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73075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291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20"/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화면 · 알림 &amp; 메시지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🎉 ‘문샷 립컬러 선정!’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📅 ‘업로드 일정 06.10~06.17’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⏳ ‘토코보 선크림 심사 중’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💬 관리자 ↔ 인플루언서 1:1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14 / 34  ·  해결·연락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3 · 해결 · 배송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주소는 ‘물어보는 것’이 아니라 ‘자동으로 최신화되는 것’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41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배송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과거 주소 재사용→오배송/전수 재확인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신청 시마다 최신 주소 자동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신청 = 주소 입력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신청하는 순간 우편번호 검색으로 그때의 주소 직접 입력.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‘매 캠페인 새로 확인’ 안내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화면에 명시해 오래된 주소가 섞일 여지 제거.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어드민에 자동 표기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신청자별 배송지가 목록에 바로. 전수조사 소멸.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브랜드 전달도 그대로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최신 주소를 모아 그대로 넘기면 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73075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291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20"/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화면 · 신청 모달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다음 우편번호 검색 연동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상세 주소 · 요청사항 입력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‘매 캠페인 새로 확인’ 경고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신청 완료 → 어드민 즉시 반영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15 / 34  ·  해결·배송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4 · 해결 · 정산  ★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‘사람 쫓아다니는 정산’을 ‘자동으로 굴러가는 정산’으로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" cy="146304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41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정산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메일→슬랙→수기 송금·누락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선정 시 자동 생성 +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계좌·주민번호 1회 등록 재사용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분리 보관·서버 조회. 중복 서류 제거.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선정 → 정산 자동 생성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‘진행’ 선정 시 고료 기본값으로 자동(중복 방지).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캠페인별 대시보드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“12명 중 5명 정산완료” 진행바 + 예정 합계.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1클릭 지급 + AI 보조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지급완료→앱 즉시 반영. 3.3%·일괄이체 CSV.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73075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291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20"/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화면 · 정산 대시보드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지급 예정 합계 350,000원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📁 문샷: 12명 중 5명 완료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📁 토코보: 8명 전원 완료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선정→자동생성→1클릭 지급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16 / 34  ·  해결·정산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5 · 해결 · 검수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복붙과 다운로드를, 업로드 한 번과 자동 저장으로</a:t>
            </a:r>
          </a:p>
        </p:txBody>
      </p:sp>
      <p:sp>
        <p:nvSpPr>
          <p:cNvPr id="4" name="Oval 3"/>
          <p:cNvSpPr/>
          <p:nvPr/>
        </p:nvSpPr>
        <p:spPr>
          <a:xfrm>
            <a:off x="10698480" y="1005840"/>
            <a:ext cx="146304" cy="146304"/>
          </a:xfrm>
          <a:prstGeom prst="ellipse">
            <a:avLst/>
          </a:prstGeom>
          <a:solidFill>
            <a:srgbClr val="C14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941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F8EAEA"/>
          </a:solidFill>
          <a:ln w="12700">
            <a:solidFill>
              <a:srgbClr val="EACB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C62828"/>
                </a:solidFill>
                <a:latin typeface="Malgun Gothic"/>
                <a:ea typeface="Malgun Gothic"/>
                <a:cs typeface="Malgun Gothic"/>
              </a:rPr>
              <a:t>기존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링크 복붙 + 영상 수동 다운로드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017520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92807"/>
            <a:ext cx="27614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defRPr spc="120"/>
            </a:pPr>
            <a:r>
              <a:rPr sz="9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지금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직접 업로드 + 드라이브 자동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65836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인플루언서 직접 업로드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 선택 후 링크 제출. 담당자 복붙 소멸.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업로드 전 자가 체크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‘브랜드 태그/공동작업자 추가’ 확인해야 제출.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어드민 검수 탭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미인증/인증완료 분류, 링크 확인 후 토글.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아카이브 자동화 + AI 검수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릴스/피드를 드라이브에 자동 저장, 가이드 대조.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730752" cy="4160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291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20"/>
            </a:pPr>
            <a:r>
              <a:rPr sz="120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화면 · 콘텐츠 아카이브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릴스 → @핸들.mp4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피드 → @핸들/ 폴더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캠페인·연월별 자동 분류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C1436D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SIRIAI_콘텐츠 / 문샷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17 / 34  ·  해결·검수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04 — 6 · AI 자동화 레이어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반복되는 ‘쓰기·계산·대조’는 AI가 초안을, 사람은 결정을.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93976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🔎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influencer-scout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핸들 → 팔로워·카테고리·적합도 스크리닝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1965960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7" y="2093976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✉️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influencer-dm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단계별 DM 자동 작성(섭외·리마인드·정산)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65960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2093976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campaign-setup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브리프 → 캠페인 등록 + 모집 공고 + 가이드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1965960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093976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brand-guide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크리에이터 촬영·업로드 가이드 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22191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50207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content-review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해시태그·멘션·금지사항 가이드 대조 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3822191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3950207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💰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settlement-helper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3.3% 원천징수·실지급액·일괄이체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822191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950207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campaign-report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브랜드 보고용 캠페인 성과 리포트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3822191"/>
            <a:ext cx="254203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950207"/>
            <a:ext cx="221284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ops-digest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리마인드·검수·정산·마감 ‘오늘 할 일’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캠페인 셋업부터 섭외·메시지·검수·정산·보고까지 —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라이프사이클 전체에 자동화 도우미.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18 / 34  ·  AI 자동화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앱을 만든 게 끝이 아닙니다 — 이렇게 운영하고 키웁니다.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9105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회사에서 가장 궁금해할 부분 — 시스템을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실제로 어떻게 굴리고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, 신규 인플루언서를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어떻게 모으고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, 채널을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어떻게 키울지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410712" cy="18288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450592"/>
            <a:ext cx="534924" cy="292608"/>
          </a:xfrm>
          <a:prstGeom prst="roundRect">
            <a:avLst>
              <a:gd name="adj" fmla="val 50000"/>
            </a:avLst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871216"/>
            <a:ext cx="308152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대량 연락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개인 폰 대신 문자 API·카카오 알림톡으로, 앱 DB와 연동해 단계별 자동·일괄 발송.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286000"/>
            <a:ext cx="3410712" cy="18288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62856" y="2450592"/>
            <a:ext cx="534924" cy="292608"/>
          </a:xfrm>
          <a:prstGeom prst="roundRect">
            <a:avLst>
              <a:gd name="adj" fmla="val 50000"/>
            </a:avLst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871216"/>
            <a:ext cx="308152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인바운드 모집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인스타 허브 + 레퍼럴 + 기존 DB로 ‘찾아오게’ 만드는 신규 유입 엔진.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286000"/>
            <a:ext cx="3410712" cy="18288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2450592"/>
            <a:ext cx="534924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축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871216"/>
            <a:ext cx="308152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인스타 채널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저장하고 싶은 콘텐츠로 브랜딩 → 앱 유입·락인 → 다시 모집으로 순환.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370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운영 원칙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73168"/>
            <a:ext cx="3410712" cy="12801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901183"/>
            <a:ext cx="3081528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① 단순 반복은 자동화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문자·검수·정산·콘텐츠 초안은 시스템·AI가. 사람은 판단·관계.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8264" y="4773168"/>
            <a:ext cx="3410712" cy="12801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4901183"/>
            <a:ext cx="3081528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② 아웃바운드 → 인바운드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찾아 나서는 모집을, 찾아오는 구조로 전환.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4773168"/>
            <a:ext cx="3410712" cy="12801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901183"/>
            <a:ext cx="3081528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③ 한 번 만들어 여러 번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결과물·콘텐츠를 재활용(아카이브·크로스미디어).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19 / 34  ·  운영·개요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대량 연락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개인 폰 없이, 수백 명에게 한 번에.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2763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인플루언서 앱 DB(상태·단계)와 연동해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맞춤 대량 발송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. 선정·리마인드·정산 안내를 단계에 맞춰 버튼 한 번으로.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175504" cy="23774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14016"/>
            <a:ext cx="484632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📨  방법 1 · 단체 문자 발송 API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알리고 · 문자나라 · 솔라피 등 문자 API 연동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한 번에 수십~수백 명, 이름·캠페인 자동 치환 맞춤 문자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비용 월 몇만 원 수준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286000"/>
            <a:ext cx="5175504" cy="23774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2414016"/>
            <a:ext cx="484632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💬  방법 2 · 카카오 알림톡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카카오 비즈니스 채널 개설 후 발송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카톡 형식이라 친숙 · 개인 번호 노출 없이 대량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읽힘률이 일반 문자보다 높음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10533888" cy="841248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BD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38928"/>
            <a:ext cx="10149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현재 앱 내 알림 → 문자·알림톡으로 휴대폰까지 도달 강화. 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둘 다 앱과 연동한 단체 발송이 핵심.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20 / 34  ·  운영·연락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단계별 자동 발송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캠페인 한 건의 연락, 이렇게 자동화됩니다.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9105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예전엔 캠페인당 [피처체크→선정→가이드→리마인더 3회→정산]을 전부 손으로 문자. 이제는 앱 상태에 맞춰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템플릿 + 버튼 한 번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으로.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40280"/>
          <a:ext cx="10543032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3291840"/>
                <a:gridCol w="2651760"/>
                <a:gridCol w="240487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발송 내용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 포인트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섭외·모집 안내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캠페인 오픈 · 신청 유도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6E68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알림톡 · 문자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필터 대상에 일괄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선정 안내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“선정되셨어요” + 일정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6E68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알림 + 알림톡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‘진행’ 선정 시 자동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가이드 전달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촬영·업로드 가이드 링크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6E68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+ 알림톡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캠페인 가이드 자동 첨부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리마인드 ×3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3일 전 · 1일 전 · 당일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6E68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알림톡 · 문자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업로드 마감 기준 예약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 정산 안내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지급 예정 · 완료 통지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6E68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+ 알림톡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지급완료 시 자동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AI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influencer-dm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 스킬이 각 단계 메시지 초안을 작성, 담당자는 확인·발송만.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21 / 34  ·  운영·연락 시나리오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인바운드 모집 ·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찾아 나서지 않고, 찾아오게 만든다.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2542032" cy="21488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139696"/>
            <a:ext cx="22128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인스타 = 인바운드 허브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“감도 높은 뷰티·패션 브랜드 × 크리에이터” 포지셔닝. 프로필에 앱 링크.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296" y="2011680"/>
            <a:ext cx="2542032" cy="21488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7" y="2139696"/>
            <a:ext cx="22128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상시 노출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진행 결과물(공동작업자 릴스·피드) 노출 + 스토리에 ‘모집중 캠페인’ 정기 업로드.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011680"/>
            <a:ext cx="2542032" cy="21488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2139696"/>
            <a:ext cx="22128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레퍼럴(지인 추천)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기존 인플루언서에게 지인 추천 요청. 진행 성사 시 소개 리워드.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2011680"/>
            <a:ext cx="2542032" cy="21488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139696"/>
            <a:ext cx="2212848" cy="1892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기존 DB 활성화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기존 협업 인플루언서에게 메일·문자·알림톡으로 앱 가입 유도.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성장 플라이휠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56048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956048"/>
            <a:ext cx="1847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① 인스타 노출·결과물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4956048"/>
            <a:ext cx="2880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6372" y="4956048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948" y="4956048"/>
            <a:ext cx="1847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② 앱 가입·신청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9180" y="4956048"/>
            <a:ext cx="2880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4" y="4956048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4956048"/>
            <a:ext cx="1847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③ 캠페인 진행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4956048"/>
            <a:ext cx="2880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3196" y="4956048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771" y="4956048"/>
            <a:ext cx="1847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④ 고퀄 결과물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4956048"/>
            <a:ext cx="2880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956048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 w="1270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73184" y="4956048"/>
            <a:ext cx="1847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↻ 다시 콘텐츠+레퍼럴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42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광고비에 기대지 않고,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결과물이 다음 모집을 부르는 선순환.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22 / 34  ·  운영·모집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모집 ① 인스타 허브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회사 인스타그램 = 인바운드의 중심.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포지셔닝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“감도 높은 뷰티·패션 브랜드와 크리에이터를 잇는다”를 한 줄로 각인.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프로필 = 전환 장치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소개문 + 링크바이오에 인플루언서 앱 링크(가입·모집중 캠페인) 고정.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운영 목표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팔로워(=잠재 인플루언서 풀)를 모으고 자연스럽게 앱으로 유입.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두 대상 동시 공략 — </a:t>
            </a:r>
            <a:r>
              <a:rPr sz="13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인플루언서엔 ‘여기서 협업하고 싶다’, 브랜드엔 ‘대행 맡기고 싶다’.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959352" cy="2697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121408"/>
            <a:ext cx="3520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defRPr spc="160"/>
            </a:pPr>
            <a:r>
              <a:rPr sz="105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프로필 예시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 · 뷰티·패션 인플루언서 마케팅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─ 감도 높은 브랜드 × 크리에이터 매칭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─ 진행 캠페인 포트폴리오 큐레이션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─ 지금 모집중 캠페인 신청 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6FDB"/>
                </a:solidFill>
                <a:latin typeface="Malgun Gothic"/>
                <a:ea typeface="Malgun Gothic"/>
                <a:cs typeface="Malgun Gothic"/>
              </a:rPr>
              <a:t>🔗 link.in/siriai-app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533888" cy="841248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핵심 — 인스타는 ‘광고판’이 아니라 앱으로 가는 입구. 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모든 콘텐츠 끝에 ‘앱에서 신청·확인’ 동선.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23 / 34  ·  모집·인스타 허브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모집 ② 노출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결과물 자체가 광고가 되게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410712" cy="2697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31136"/>
            <a:ext cx="3081528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공동작업자(협업) 노출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진행 인플루언서 게시물에 회사 계정을 공동작업자로 → 그들의 피드에 함께 노출. 그 게시물로 광고 집행까지 가능.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103120"/>
            <a:ext cx="3410712" cy="2697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2231136"/>
            <a:ext cx="3081528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🎞️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결과물 재업로드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진행한 릴스·피드를 인플루언서 태그 포함해 회사 계정에 재업로드 → 포트폴리오 + 자연 도달.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103120"/>
            <a:ext cx="3410712" cy="2697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31136"/>
            <a:ext cx="3081528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스토리 상시 모집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“현재 모집중 캠페인” 스토리를 정기 업로드 → 팔로우 중인 기존 인플루언서가 보고 바로 신청.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별도 제작물 없이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이미 가진 캠페인 결과물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로 노출을 만들고, 그 노출이 다시 신청으로.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24 / 34  ·  모집·노출 전략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모집 ③ 레퍼럴 · 기존 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검증된 사람이, 검증된 사람을 데려온다.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75504" cy="2743200"/>
          </a:xfrm>
          <a:prstGeom prst="roundRect">
            <a:avLst>
              <a:gd name="adj" fmla="val 7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31136"/>
            <a:ext cx="4846320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🤝  레퍼럴 (지인 추천)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진행 이력 있는 인플루언서에게 ‘비슷한 감도의 지인 추천’ 요청.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소개 인센티브 — 가입·승인 + 실제 캠페인 진행 시 소정의 리워드.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‘성과 연동’이라 비용 효율적 + 감도 검증된 풀 유입.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2103120"/>
            <a:ext cx="5175504" cy="2743200"/>
          </a:xfrm>
          <a:prstGeom prst="roundRect">
            <a:avLst>
              <a:gd name="adj" fmla="val 7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5936" y="2231136"/>
            <a:ext cx="4846320" cy="2487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🔔  기존 DB 활성화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그동안 협업한 인플루언서 전체에게 앱 가입 안내(메일·문자·카톡).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“이제 신청·정산·소통이 앱 한 곳에서” 가치를 전달.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✓  </a:t>
            </a:r>
            <a:r>
              <a:rPr sz="125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잠들어 있던 풀을 활성 사용자로 전환.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광고 의존 없이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신뢰 기반</a:t>
            </a:r>
            <a:r>
              <a:rPr sz="14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으로 풀을 늘리고, 자발적 추천으로 지속 유입.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25 / 34  ·  모집·레퍼럴·DB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인스타 채널 ·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팔리는 광고가 아니라, ‘저장하고 싶은 채널’.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179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콘텐츠 4기둥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42032" cy="22402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1993392"/>
            <a:ext cx="891540" cy="310896"/>
          </a:xfrm>
          <a:prstGeom prst="roundRect">
            <a:avLst>
              <a:gd name="adj" fmla="val 50000"/>
            </a:avLst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50592"/>
            <a:ext cx="221284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크리에이터 아카이브 — 진행 결과물 큐레이션. ‘여기서 하면 퀄리티 브랜드를 만난다’ 증명 + ‘나도 협찬받고 싶다’ 자극.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828800"/>
            <a:ext cx="2542032" cy="22402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75887" y="1993392"/>
            <a:ext cx="1083564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트렌드·매거진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450592"/>
            <a:ext cx="221284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분기 뷰티·패션 트렌드 리포트, ‘성수 라이징 브랜드 5’ 류 카드뉴스. 마지막 장 ‘친구 공유’로 바이럴.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2542032" cy="22402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993392"/>
            <a:ext cx="644652" cy="310896"/>
          </a:xfrm>
          <a:prstGeom prst="roundRect">
            <a:avLst>
              <a:gd name="adj" fmla="val 50000"/>
            </a:avLst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교육형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50592"/>
            <a:ext cx="221284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3초 후킹·GRWM·조명·자막·‘잘 되는 캡션 공식’·트렌드 사운드. 크리에이터 성장 지원으로 락인.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1828800"/>
            <a:ext cx="2542032" cy="22402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1993392"/>
            <a:ext cx="836676" cy="310896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모집·전환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50592"/>
            <a:ext cx="221284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‘신청하면 이렇게 진행돼요’ 3단계, 모집중 캠페인 티저, 레퍼럴 이벤트.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3410712" cy="1554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425696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🔁 크로스미디어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인스타엔 핵심 요약 → ‘전체는 앱에서’ CTA → 앱 유입. 앱 내 뉴스레터로 상시 열람·락인.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4297680"/>
            <a:ext cx="3410712" cy="1554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4425696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📢 소액 광고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뷰티·패션 타깃 일 1~2만 원 ‘협업 모집’ 광고 + 공동작업자 노출로 도달 확대.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4297680"/>
            <a:ext cx="3410712" cy="15544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425696"/>
            <a:ext cx="308152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🤖 올인원 자동화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AI가 주제 선정·트렌드 데이터 수집·카드뉴스 이미지+캡션까지 자동 생성.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26 / 34  ·  운영·콘텐츠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콘텐츠 기둥 ① 포트폴리오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“여기서 하면 퀄리티 브랜드를 만난다”를 증명.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63093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크리에이터 아카이브 — </a:t>
            </a:r>
            <a:r>
              <a:rPr sz="13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매칭된 인플루언서들이 촬영한 고퀄 피드·릴스를 큐레이션해 업로드.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포트폴리오 증명 — </a:t>
            </a:r>
            <a:r>
              <a:rPr sz="13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‘이 브랜드의 이 제품을 이렇게 소화’ → 브랜드사엔 대행 능력 증명.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욕구 자극 — </a:t>
            </a:r>
            <a:r>
              <a:rPr sz="13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다른 인플루언서엔 ‘나도 저기서 협찬받아 예쁜 피드를 만들고 싶다’.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＋ </a:t>
            </a: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비주얼 브랜드 소개 — </a:t>
            </a:r>
            <a:r>
              <a:rPr sz="13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진행 브랜드(때론 하이엔드 룩북)도 감성 이미지로 소개해 계정 격 상승.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959352" cy="320040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121408"/>
            <a:ext cx="3520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defRPr spc="160"/>
            </a:pPr>
            <a:r>
              <a:rPr sz="1050" b="1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게시물 예시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“[브랜드] 신상 립 — 우리 크리에이터들의 해석”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릴스 모음: 이번 달 베스트 콘텐츠 5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비포&amp;애프터: 같은 제품, 다른 무드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협업 브랜드 신제품·행사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27 / 34  ·  콘텐츠·포트폴리오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콘텐츠 기둥 ② 트렌드·매거진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‘저장’과 ‘공유’를 부르는 정보성 콘텐츠.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9105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광고만 올리면 매력도가 떨어집니다. 저장하고 싶은 매거진형 콘텐츠로 도달·팔로워를 키웁니다. (기획 중인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자체 뷰티 트렌드 리포트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와 직결)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175504" cy="278892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59736"/>
            <a:ext cx="4846320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주제 예시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“올여름 파우치 치트키, 젤리 립 플럼퍼 Top 5”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“요즘 성수에서 가장 핫한 라이징 브랜드 5”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“올여름 주목할 뷰티 트렌드 키워드”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“브랜드가 요즘 찾는 인플루언서 유형”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331720"/>
            <a:ext cx="5175504" cy="278892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2459736"/>
            <a:ext cx="4846320" cy="2532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운영 포인트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분기별 트렌드 리포트를 카드뉴스로 제작·발행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시즌·테마별 큐레이션으로 ‘저장’ 유도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마지막 장 ‘친구에게 공유’ → 바이럴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앱 내 뉴스레터로도 상시 열람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28 / 34  ·  콘텐츠·트렌드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콘텐츠 기둥 ③ 교육 · ④ 모집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크리에이터를 키우고(락인), 신청으로 전환한다.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75504" cy="31546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" y="2176272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기둥 ③ 교육형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96896"/>
            <a:ext cx="4846320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“3초 후킹 만드는 법” · GRWM 촬영 가이드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조명·각도 꿀팁 · 무료 편집앱·템플릿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자막 스타일 · ‘잘 되는 캡션 공식’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트렌드 사운드 · 알고리즘·도달 올리는 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6B4DCE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선정 확률 높이는 프로필 관리법(=앱 활용)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011680"/>
            <a:ext cx="5175504" cy="31546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45936" y="217627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기둥 ④ 모집·전환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2596896"/>
            <a:ext cx="4846320" cy="2441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“신청하면 이렇게 진행돼요” 3단계 안내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한정 캠페인 티저 · 마감 임박 리마인드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레퍼럴 이벤트(‘좋은 동료를 추천해주세요’)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앱 활용 꿀팁 + ‘자세한 건 앱에서’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29 / 34  ·  콘텐츠·교육·모집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05 · 운영 실행 · 크로스미디어 ·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인스타 → 앱 유입, 그리고 운영은 자동화.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10712" cy="20116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139696"/>
            <a:ext cx="3081528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크로스미디어 전략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같은 가이드를 인스타용 카드뉴스로 요약 → ‘전체는 앱에서’ 링크 → 팔로워를 앱으로 유입.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011680"/>
            <a:ext cx="3410712" cy="20116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2139696"/>
            <a:ext cx="3081528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앱 락인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성장 가이드·콘텐츠 팁·뉴스레터를 앱 내 상시 제공 → 다운로드·재방문 유도.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011680"/>
            <a:ext cx="3410712" cy="201168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39696"/>
            <a:ext cx="3081528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소액 광고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뷰티·패션 크리에이터 타깃 ‘협업 모집’ 광고를 일 1~2만 원으로 → 신규 인바운드.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708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올인원 자동화 시스템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73168"/>
            <a:ext cx="3410712" cy="1298448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901183"/>
            <a:ext cx="308152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① 기획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업로드할 최적의 주제·아이템을 AI가 선정.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4773168"/>
            <a:ext cx="3410712" cy="1298448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4901183"/>
            <a:ext cx="308152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② 수집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트렌드 분석용 데이터를 시스템이 자동 수집.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4773168"/>
            <a:ext cx="3410712" cy="1298448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901183"/>
            <a:ext cx="308152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③ 제작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카드뉴스 이미지 + 본문 캡션까지 자동 생성.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30 / 34  ·  콘텐츠·자동화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06 · 업무 효율 ·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같은 일을, 더 적은 손으로.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91640"/>
          <a:ext cx="10543032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297680"/>
                <a:gridCol w="469087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Before · 수작업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3EEE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After · 시스템 + AI</a:t>
                      </a:r>
                    </a:p>
                  </a:txBody>
                  <a:tcPr marL="91440" marR="73152" marT="45720" marB="45720" anchor="ctr">
                    <a:solidFill>
                      <a:srgbClr val="211A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모집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태그 검색 + 1:1 DM, 기억 매칭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공개 모집 + 조건 필터 + AI 스카우트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소통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폰 수동 문자 × 인원수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알림 + 앱 1:1 DM (+AI 초안)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배송지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전수 수기 재확인 / 과거 주소 사고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시 최신 주소 자동 수집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서류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 캠페인 신분증·통장 재수취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1회 등록 후 재사용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송금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취합→슬랙→수기 송금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시 자동 생성 + 대시보드 + 일괄이체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검수·저장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복붙 + 영상 수동 다운로드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업로드 + 드라이브 자동 + AI 검수</a:t>
                      </a:r>
                    </a:p>
                  </a:txBody>
                  <a:tcPr marL="91440" marR="73152" marT="45720" marB="4572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주체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C6282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1인이 전 과정 수작업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11A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시스템·AI가 반복, 사람은 판단·관계</a:t>
                      </a:r>
                    </a:p>
                  </a:txBody>
                  <a:tcPr marL="91440" marR="73152" marT="45720" marB="45720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806440"/>
            <a:ext cx="10543032" cy="685800"/>
          </a:xfrm>
          <a:prstGeom prst="roundRect">
            <a:avLst>
              <a:gd name="adj" fmla="val 12000"/>
            </a:avLst>
          </a:prstGeom>
          <a:solidFill>
            <a:srgbClr val="E9F1E9"/>
          </a:solidFill>
          <a:ln w="12700">
            <a:solidFill>
              <a:srgbClr val="CB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89788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핵심 — </a:t>
            </a:r>
            <a:r>
              <a:rPr sz="14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인원이 늘어도 매니저 공수는 선형으로 늘지 않는다. 규모를 키울 수 있는 구조.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31 / 34  ·  Before / After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06 · 기술 · 보안 ·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검증된 표준 스택 위에, 안전하게.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10712" cy="31089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04495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🧱  기술 스택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Next.js + TypeScript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Supabase (DB·인증·스토리지)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Vercel 자동 배포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Google Drive · 우편번호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2011680"/>
            <a:ext cx="3410712" cy="31089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1144" y="2194560"/>
            <a:ext cx="304495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🔒  보안 · 개인정보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주민번호 별도 테이블 분리 보관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서버에서 권한 키로만 조회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가입은 검토 후 승인제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정산 정보는 본인·담당자만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011680"/>
            <a:ext cx="3410712" cy="310896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2194560"/>
            <a:ext cx="304495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⚙️  운영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코드 반영 → 즉시 자동 배포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개발 현황 페이지로 진척 관리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웹앱이라 설치 없이 링크 접속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두 앱 + AI를 자체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→ 외부 솔루션 구독이 아니라 </a:t>
            </a:r>
            <a:r>
              <a:rPr sz="135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우리 업무에 정확히 맞춘 자체 시스템.</a:t>
            </a:r>
            <a:r>
              <a:rPr sz="13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 필요한 기능을 바로 추가합니다.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32 / 34  ·  기술·보안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9A95A3"/>
                </a:solidFill>
                <a:latin typeface="Consolas"/>
                <a:ea typeface="Consolas"/>
                <a:cs typeface="Consolas"/>
              </a:rPr>
              <a:t>06 · 향후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지금도 돌아가고, 더 단단해집니다.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9456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알림 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현재 앱 내 알림 → 카카오 알림톡·문자·웹푸시로 도달률 향상.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01168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1144" y="219456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67004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인스타 게시물 태그·공동작업자 자동 검증(Meta 연동). 현재는 자가 체크.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01168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56448" y="219456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6B4D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67004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팀원 개별 로그인·권한 (현재 공용 접속).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8620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4069080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C14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4456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카테고리 세분화(뷰티→색조/스킨케어), 브랜드별 중복 전달 방지.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388620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406908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54456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캠페인 매출·순이익·마진과 브랜드 예산 연동.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3886200"/>
            <a:ext cx="3410712" cy="1691640"/>
          </a:xfrm>
          <a:prstGeom prst="roundRect">
            <a:avLst>
              <a:gd name="adj" fmla="val 7000"/>
            </a:avLst>
          </a:prstGeom>
          <a:solidFill>
            <a:srgbClr val="FBF9F3"/>
          </a:solidFill>
          <a:ln w="12700">
            <a:solidFill>
              <a:srgbClr val="D7D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6448" y="406908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55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544568"/>
            <a:ext cx="30449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8"/>
                </a:solidFill>
                <a:latin typeface="Malgun Gothic"/>
                <a:ea typeface="Malgun Gothic"/>
                <a:cs typeface="Malgun Gothic"/>
              </a:rPr>
              <a:t>FAQ·1:1 문의 고도화, 업로드 마감 자동 제어, 정산 주민번호 암호화.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211A33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A95A3"/>
                </a:solidFill>
                <a:latin typeface="Malgun Gothic"/>
                <a:ea typeface="Malgun Gothic"/>
                <a:cs typeface="Malgun Gothic"/>
              </a:rPr>
              <a:t>33 / 34  ·  로드맵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  <a:defRPr spc="260"/>
            </a:pPr>
            <a:r>
              <a:rPr sz="1200" b="1">
                <a:solidFill>
                  <a:srgbClr val="BEB8C6"/>
                </a:solidFill>
                <a:latin typeface="Consolas"/>
                <a:ea typeface="Consolas"/>
                <a:cs typeface="Consolas"/>
              </a:rPr>
              <a:t>SIRIAI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수작업으로는 못 키우던 규모를,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시스템으로 키웁니다.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2407" y="3611880"/>
            <a:ext cx="2926080" cy="1371600"/>
          </a:xfrm>
          <a:prstGeom prst="roundRect">
            <a:avLst>
              <a:gd name="adj" fmla="val 7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32407" y="3794760"/>
            <a:ext cx="2926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매니저 반복 공수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32807" y="3611880"/>
            <a:ext cx="2926080" cy="1371600"/>
          </a:xfrm>
          <a:prstGeom prst="roundRect">
            <a:avLst>
              <a:gd name="adj" fmla="val 7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3794760"/>
            <a:ext cx="2926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↑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클라이언트 감도·만족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33207" y="3611880"/>
            <a:ext cx="2926080" cy="1371600"/>
          </a:xfrm>
          <a:prstGeom prst="roundRect">
            <a:avLst>
              <a:gd name="adj" fmla="val 7000"/>
            </a:avLst>
          </a:prstGeom>
          <a:solidFill>
            <a:srgbClr val="2B223B"/>
          </a:solidFill>
          <a:ln w="12700">
            <a:solidFill>
              <a:srgbClr val="494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3207" y="3794760"/>
            <a:ext cx="2926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6C9A8"/>
                </a:solidFill>
                <a:latin typeface="Malgun Gothic"/>
                <a:ea typeface="Malgun Gothic"/>
                <a:cs typeface="Malgun Gothic"/>
              </a:rPr>
              <a:t>∞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데이터 자산화·확장성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감사합니다.   ·   질문을 받겠습니다.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pc="120"/>
            </a:pPr>
            <a:r>
              <a:rPr sz="900" b="1">
                <a:solidFill>
                  <a:srgbClr val="E65100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1100" b="1">
                <a:solidFill>
                  <a:srgbClr val="ECE6DA"/>
                </a:solidFill>
                <a:latin typeface="Malgun Gothic"/>
                <a:ea typeface="Malgun Gothic"/>
                <a:cs typeface="Malgun Gothic"/>
              </a:rPr>
              <a:t>SIRIAI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3737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EB8C6"/>
                </a:solidFill>
                <a:latin typeface="Malgun Gothic"/>
                <a:ea typeface="Malgun Gothic"/>
                <a:cs typeface="Malgun Gothic"/>
              </a:rPr>
              <a:t>34 / 34  ·  마무리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